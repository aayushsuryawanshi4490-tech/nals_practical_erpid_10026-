
<file path=[Content_Types].xml><?xml version="1.0" encoding="utf-8"?>
<Types xmlns="http://schemas.openxmlformats.org/package/2006/content-types">
  <Default Extension="jpeg" ContentType="image/jpeg"/>
  <Default Extension="JPG" ContentType="image/.jpg"/>
  <Default Extension="wav" ContentType="audio/x-wav"/>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1"/>
  </p:notesMasterIdLst>
  <p:sldIdLst>
    <p:sldId id="256" r:id="rId3"/>
    <p:sldId id="257" r:id="rId4"/>
    <p:sldId id="263" r:id="rId5"/>
    <p:sldId id="259" r:id="rId6"/>
    <p:sldId id="258" r:id="rId7"/>
    <p:sldId id="260" r:id="rId8"/>
    <p:sldId id="261" r:id="rId9"/>
    <p:sldId id="262"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934" autoAdjust="0"/>
    <p:restoredTop sz="92398" autoAdjust="0"/>
  </p:normalViewPr>
  <p:slideViewPr>
    <p:cSldViewPr snapToGrid="0">
      <p:cViewPr>
        <p:scale>
          <a:sx n="66" d="100"/>
          <a:sy n="66" d="100"/>
        </p:scale>
        <p:origin x="1608" y="418"/>
      </p:cViewPr>
      <p:guideLst/>
    </p:cSldViewPr>
  </p:slideViewPr>
  <p:outlineViewPr>
    <p:cViewPr>
      <p:scale>
        <a:sx n="33" d="100"/>
        <a:sy n="33" d="100"/>
      </p:scale>
      <p:origin x="0" y="-577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0A1E7C-BC59-444B-B6CA-DCBC38389526}"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ED4AD5-C5E6-4CC4-9122-051533DFAF5E}"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5ED4AD5-C5E6-4CC4-9122-051533DFAF5E}"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5" name="Rectangle 8"/>
            <p:cNvSpPr>
              <a:spLocks noChangeArrowheads="1"/>
            </p:cNvSpPr>
            <p:nvPr/>
          </p:nvSpPr>
          <p:spPr bwMode="auto">
            <a:xfrm>
              <a:off x="414338" y="9525"/>
              <a:ext cx="28575" cy="4481513"/>
            </a:xfrm>
            <a:prstGeom prst="rect">
              <a:avLst/>
            </a:prstGeom>
            <a:grpFill/>
            <a:ln>
              <a:noFill/>
            </a:ln>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40" name="Rectangle 33"/>
            <p:cNvSpPr>
              <a:spLocks noChangeArrowheads="1"/>
            </p:cNvSpPr>
            <p:nvPr/>
          </p:nvSpPr>
          <p:spPr bwMode="auto">
            <a:xfrm>
              <a:off x="642938" y="6610350"/>
              <a:ext cx="23813" cy="242888"/>
            </a:xfrm>
            <a:prstGeom prst="rect">
              <a:avLst/>
            </a:prstGeom>
            <a:grpFill/>
            <a:ln>
              <a:noFill/>
            </a:ln>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p:spPr>
        </p:sp>
        <p:sp>
          <p:nvSpPr>
            <p:cNvPr id="52" name="Rectangle 45"/>
            <p:cNvSpPr>
              <a:spLocks noChangeArrowheads="1"/>
            </p:cNvSpPr>
            <p:nvPr/>
          </p:nvSpPr>
          <p:spPr bwMode="auto">
            <a:xfrm>
              <a:off x="1228725" y="4662488"/>
              <a:ext cx="23813" cy="2181225"/>
            </a:xfrm>
            <a:prstGeom prst="rect">
              <a:avLst/>
            </a:prstGeom>
            <a:grpFill/>
            <a:ln>
              <a:noFill/>
            </a:ln>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airplane"/>
        <p:sndAc>
          <p:stSnd>
            <p:snd r:embed="rId3" name="bomb.wav"/>
          </p:stSnd>
        </p:sndAc>
      </p:transition>
    </mc:Choice>
    <mc:Fallback>
      <p:transition>
        <p:fade/>
        <p:sndAc>
          <p:stSnd>
            <p:snd r:embed="rId3" name="bomb.wav"/>
          </p:stSnd>
        </p:sndAc>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airplane"/>
        <p:sndAc>
          <p:stSnd>
            <p:snd r:embed="rId2" name="bomb.wav"/>
          </p:stSnd>
        </p:sndAc>
      </p:transition>
    </mc:Choice>
    <mc:Fallback>
      <p:transition>
        <p:fade/>
        <p:sndAc>
          <p:stSnd>
            <p:snd r:embed="rId2" name="bomb.wav"/>
          </p:stSnd>
        </p:sndAc>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airplane"/>
        <p:sndAc>
          <p:stSnd>
            <p:snd r:embed="rId2" name="bomb.wav"/>
          </p:stSnd>
        </p:sndAc>
      </p:transition>
    </mc:Choice>
    <mc:Fallback>
      <p:transition>
        <p:fade/>
        <p:sndAc>
          <p:stSnd>
            <p:snd r:embed="rId2" name="bomb.wav"/>
          </p:stSnd>
        </p:sndAc>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airplane"/>
        <p:sndAc>
          <p:stSnd>
            <p:snd r:embed="rId2" name="bomb.wav"/>
          </p:stSnd>
        </p:sndAc>
      </p:transition>
    </mc:Choice>
    <mc:Fallback>
      <p:transition>
        <p:fade/>
        <p:sndAc>
          <p:stSnd>
            <p:snd r:embed="rId2" name="bomb.wav"/>
          </p:stSnd>
        </p:sndAc>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airplane"/>
        <p:sndAc>
          <p:stSnd>
            <p:snd r:embed="rId2" name="bomb.wav"/>
          </p:stSnd>
        </p:sndAc>
      </p:transition>
    </mc:Choice>
    <mc:Fallback>
      <p:transition>
        <p:fade/>
        <p:sndAc>
          <p:stSnd>
            <p:snd r:embed="rId2" name="bomb.wav"/>
          </p:stSnd>
        </p:sndAc>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airplane"/>
        <p:sndAc>
          <p:stSnd>
            <p:snd r:embed="rId2" name="bomb.wav"/>
          </p:stSnd>
        </p:sndAc>
      </p:transition>
    </mc:Choice>
    <mc:Fallback>
      <p:transition>
        <p:fade/>
        <p:sndAc>
          <p:stSnd>
            <p:snd r:embed="rId2" name="bomb.wav"/>
          </p:stSnd>
        </p:sndAc>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airplane"/>
        <p:sndAc>
          <p:stSnd>
            <p:snd r:embed="rId2" name="bomb.wav"/>
          </p:stSnd>
        </p:sndAc>
      </p:transition>
    </mc:Choice>
    <mc:Fallback>
      <p:transition>
        <p:fade/>
        <p:sndAc>
          <p:stSnd>
            <p:snd r:embed="rId2" name="bomb.wav"/>
          </p:stSnd>
        </p:sndAc>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8A87A34-81AB-432B-8DAE-1953F412C126}"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airplane"/>
        <p:sndAc>
          <p:stSnd>
            <p:snd r:embed="rId2" name="bomb.wav"/>
          </p:stSnd>
        </p:sndAc>
      </p:transition>
    </mc:Choice>
    <mc:Fallback>
      <p:transition>
        <p:fade/>
        <p:sndAc>
          <p:stSnd>
            <p:snd r:embed="rId2" name="bomb.wav"/>
          </p:stSnd>
        </p:sndAc>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8A87A34-81AB-432B-8DAE-1953F412C126}"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airplane"/>
        <p:sndAc>
          <p:stSnd>
            <p:snd r:embed="rId2" name="bomb.wav"/>
          </p:stSnd>
        </p:sndAc>
      </p:transition>
    </mc:Choice>
    <mc:Fallback>
      <p:transition>
        <p:fade/>
        <p:sndAc>
          <p:stSnd>
            <p:snd r:embed="rId2" name="bomb.wav"/>
          </p:stSnd>
        </p:sndAc>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8A87A34-81AB-432B-8DAE-1953F412C126}"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airplane"/>
        <p:sndAc>
          <p:stSnd>
            <p:snd r:embed="rId2" name="bomb.wav"/>
          </p:stSnd>
        </p:sndAc>
      </p:transition>
    </mc:Choice>
    <mc:Fallback>
      <p:transition>
        <p:fade/>
        <p:sndAc>
          <p:stSnd>
            <p:snd r:embed="rId2" name="bomb.wav"/>
          </p:stSnd>
        </p:sndAc>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8A87A34-81AB-432B-8DAE-1953F412C126}"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airplane"/>
        <p:sndAc>
          <p:stSnd>
            <p:snd r:embed="rId2" name="bomb.wav"/>
          </p:stSnd>
        </p:sndAc>
      </p:transition>
    </mc:Choice>
    <mc:Fallback>
      <p:transition>
        <p:fade/>
        <p:sndAc>
          <p:stSnd>
            <p:snd r:embed="rId2" name="bomb.wav"/>
          </p:stSnd>
        </p:sndAc>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8A87A34-81AB-432B-8DAE-1953F412C126}"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panose="020B0603020202020204"/>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endParaRPr lang="en-US" sz="8000" dirty="0">
              <a:solidFill>
                <a:schemeClr val="tx1"/>
              </a:solidFill>
              <a:effectLst/>
            </a:endParaRP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panose="020B0603020202020204"/>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endParaRPr lang="en-US" sz="8000" dirty="0">
              <a:solidFill>
                <a:schemeClr val="tx1"/>
              </a:solidFill>
              <a:effectLst/>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airplane"/>
        <p:sndAc>
          <p:stSnd>
            <p:snd r:embed="rId2" name="bomb.wav"/>
          </p:stSnd>
        </p:sndAc>
      </p:transition>
    </mc:Choice>
    <mc:Fallback>
      <p:transition>
        <p:fade/>
        <p:sndAc>
          <p:stSnd>
            <p:snd r:embed="rId2" name="bomb.wav"/>
          </p:stSnd>
        </p:sndAc>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8A87A34-81AB-432B-8DAE-1953F412C126}"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airplane"/>
        <p:sndAc>
          <p:stSnd>
            <p:snd r:embed="rId2" name="bomb.wav"/>
          </p:stSnd>
        </p:sndAc>
      </p:transition>
    </mc:Choice>
    <mc:Fallback>
      <p:transition>
        <p:fade/>
        <p:sndAc>
          <p:stSnd>
            <p:snd r:embed="rId2" name="bomb.wav"/>
          </p:stSnd>
        </p:sndAc>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3" name="Date Placeholder 2"/>
          <p:cNvSpPr>
            <a:spLocks noGrp="1"/>
          </p:cNvSpPr>
          <p:nvPr>
            <p:ph type="dt" sz="half" idx="10"/>
          </p:nvPr>
        </p:nvSpPr>
        <p:spPr/>
        <p:txBody>
          <a:bodyPr/>
          <a:lstStyle/>
          <a:p>
            <a:fld id="{48A87A34-81AB-432B-8DAE-1953F412C126}"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airplane"/>
        <p:sndAc>
          <p:stSnd>
            <p:snd r:embed="rId2" name="bomb.wav"/>
          </p:stSnd>
        </p:sndAc>
      </p:transition>
    </mc:Choice>
    <mc:Fallback>
      <p:transition>
        <p:fade/>
        <p:sndAc>
          <p:stSnd>
            <p:snd r:embed="rId2" name="bomb.wav"/>
          </p:stSnd>
        </p:sndAc>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3" name="Date Placeholder 2"/>
          <p:cNvSpPr>
            <a:spLocks noGrp="1"/>
          </p:cNvSpPr>
          <p:nvPr>
            <p:ph type="dt" sz="half" idx="10"/>
          </p:nvPr>
        </p:nvSpPr>
        <p:spPr/>
        <p:txBody>
          <a:bodyPr/>
          <a:lstStyle/>
          <a:p>
            <a:fld id="{48A87A34-81AB-432B-8DAE-1953F412C126}"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airplane"/>
        <p:sndAc>
          <p:stSnd>
            <p:snd r:embed="rId2" name="bomb.wav"/>
          </p:stSnd>
        </p:sndAc>
      </p:transition>
    </mc:Choice>
    <mc:Fallback>
      <p:transition>
        <p:fade/>
        <p:sndAc>
          <p:stSnd>
            <p:snd r:embed="rId2" name="bomb.wav"/>
          </p:stSnd>
        </p:sndAc>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airplane"/>
        <p:sndAc>
          <p:stSnd>
            <p:snd r:embed="rId2" name="bomb.wav"/>
          </p:stSnd>
        </p:sndAc>
      </p:transition>
    </mc:Choice>
    <mc:Fallback>
      <p:transition>
        <p:fade/>
        <p:sndAc>
          <p:stSnd>
            <p:snd r:embed="rId2" name="bomb.wav"/>
          </p:stSnd>
        </p:sndAc>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airplane"/>
        <p:sndAc>
          <p:stSnd>
            <p:snd r:embed="rId2" name="bomb.wav"/>
          </p:stSnd>
        </p:sndAc>
      </p:transition>
    </mc:Choice>
    <mc:Fallback>
      <p:transition>
        <p:fade/>
        <p:sndAc>
          <p:stSnd>
            <p:snd r:embed="rId2" name="bomb.wav"/>
          </p:stSnd>
        </p:sndAc>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audio" Target="../media/audio1.wav"/><Relationship Id="rId18" Type="http://schemas.openxmlformats.org/officeDocument/2006/relationships/image" Target="../media/image1.pn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8">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p:spPr>
          </p:sp>
          <p:sp>
            <p:nvSpPr>
              <p:cNvPr id="37" name="Rectangle 21"/>
              <p:cNvSpPr>
                <a:spLocks noChangeArrowheads="1"/>
              </p:cNvSpPr>
              <p:nvPr/>
            </p:nvSpPr>
            <p:spPr bwMode="auto">
              <a:xfrm>
                <a:off x="133350" y="4662488"/>
                <a:ext cx="23813" cy="2181225"/>
              </a:xfrm>
              <a:prstGeom prst="rect">
                <a:avLst/>
              </a:prstGeom>
              <a:grpFill/>
              <a:ln>
                <a:noFill/>
              </a:ln>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20" name="Rectangle 41"/>
              <p:cNvSpPr>
                <a:spLocks noChangeArrowheads="1"/>
              </p:cNvSpPr>
              <p:nvPr/>
            </p:nvSpPr>
            <p:spPr bwMode="auto">
              <a:xfrm>
                <a:off x="11939587" y="6596063"/>
                <a:ext cx="23813" cy="252413"/>
              </a:xfrm>
              <a:prstGeom prst="rect">
                <a:avLst/>
              </a:prstGeom>
              <a:grpFill/>
              <a:ln>
                <a:noFill/>
              </a:ln>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mc:AlternateContent xmlns:mc="http://schemas.openxmlformats.org/markup-compatibility/2006">
    <mc:Choice xmlns:p15="http://schemas.microsoft.com/office/powerpoint/2012/main" Requires="p15">
      <p:transition xmlns:p14="http://schemas.microsoft.com/office/powerpoint/2010/main" Requires="p14" p14:dur="10">
        <p15:prstTrans prst="airplane"/>
        <p:sndAc>
          <p:stSnd>
            <p:snd r:embed="rId19" name="bomb.wav"/>
          </p:stSnd>
        </p:sndAc>
      </p:transition>
    </mc:Choice>
    <mc:Fallback>
      <p:transition>
        <p:fade/>
        <p:sndAc>
          <p:stSnd>
            <p:snd r:embed="rId19" name="bomb.wav"/>
          </p:stSnd>
        </p:sndAc>
      </p:transition>
    </mc:Fallback>
  </mc:AlternateConten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audio" Target="../media/audio2.wav"/></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hyperlink" Target="https://www.google.com/search?sca_esv=c5d665130b0b830b&amp;rlz=1C1ASUM_enIN1186IN1186&amp;cs=0&amp;sxsrf=AE3TifOKHyDG3jjb0aKBcd_d7EHPfOkv7w%3A1761831105473&amp;q=Collaboration+and+communication&amp;sa=X&amp;ved=2ahUKEwj1pJqphMyQAxUYyDgGHZrHB6UQxccNegQIDxAB&amp;mstk=AUtExfD3Sp6re0lVkQZ5jhzaG9lL8MFLLeE51fUFV7BCsZsfJB02lz6Gw3Nanhephn2VTCCrxYiWnu2AdiHrZ45iuB94R5QuQaJCiU-1f0UZdvFpLWMqaeI71bczL-z3711Ld5MbTGNOGpze2co_qTosEZuSs0q3lKmpjF-53hiF5nbratMfPjGVHf1G-iiS7WMQltAa9dE7YK6F0R-pMeyw5NurqAR2rf_doMjw-OG__ULAXBOPE7x5Gjh4qIZwIVJRHvH9tWVpADU9M8gWcvoDbquPEYSI5hBZki6N2rUGipDjwZth02lAmCyTQH4cNeziuJmAk1YtlvXS2tWecfvHIjsPz_ns8f3B5AJQyncM27ZNlsznIOYo1reAKofPFb163SNGsQCAY0ZMRvMJzghFaCUqLzBtOI1W0J8os3GfSc3LO7hY0cozxJU79CKQ0eut&amp;csui=3" TargetMode="External"/><Relationship Id="rId4" Type="http://schemas.openxmlformats.org/officeDocument/2006/relationships/hyperlink" Target="https://www.google.com/search?sca_esv=c5d665130b0b830b&amp;rlz=1C1ASUM_enIN1186IN1186&amp;cs=0&amp;sxsrf=AE3TifOKHyDG3jjb0aKBcd_d7EHPfOkv7w%3A1761831105473&amp;q=Data+management+and+analysis&amp;sa=X&amp;ved=2ahUKEwj1pJqphMyQAxUYyDgGHZrHB6UQxccNegQIExAB&amp;mstk=AUtExfD3Sp6re0lVkQZ5jhzaG9lL8MFLLeE51fUFV7BCsZsfJB02lz6Gw3Nanhephn2VTCCrxYiWnu2AdiHrZ45iuB94R5QuQaJCiU-1f0UZdvFpLWMqaeI71bczL-z3711Ld5MbTGNOGpze2co_qTosEZuSs0q3lKmpjF-53hiF5nbratMfPjGVHf1G-iiS7WMQltAa9dE7YK6F0R-pMeyw5NurqAR2rf_doMjw-OG__ULAXBOPE7x5Gjh4qIZwIVJRHvH9tWVpADU9M8gWcvoDbquPEYSI5hBZki6N2rUGipDjwZth02lAmCyTQH4cNeziuJmAk1YtlvXS2tWecfvHIjsPz_ns8f3B5AJQyncM27ZNlsznIOYo1reAKofPFb163SNGsQCAY0ZMRvMJzghFaCUqLzBtOI1W0J8os3GfSc3LO7hY0cozxJU79CKQ0eut&amp;csui=3" TargetMode="External"/><Relationship Id="rId3" Type="http://schemas.openxmlformats.org/officeDocument/2006/relationships/hyperlink" Target="https://www.google.com/search?sca_esv=c5d665130b0b830b&amp;rlz=1C1ASUM_enIN1186IN1186&amp;cs=0&amp;sxsrf=AE3TifOKHyDG3jjb0aKBcd_d7EHPfOkv7w%3A1761831105473&amp;q=Research+and+innovation&amp;sa=X&amp;ved=2ahUKEwj1pJqphMyQAxUYyDgGHZrHB6UQxccNegQIEBAB&amp;mstk=AUtExfD3Sp6re0lVkQZ5jhzaG9lL8MFLLeE51fUFV7BCsZsfJB02lz6Gw3Nanhephn2VTCCrxYiWnu2AdiHrZ45iuB94R5QuQaJCiU-1f0UZdvFpLWMqaeI71bczL-z3711Ld5MbTGNOGpze2co_qTosEZuSs0q3lKmpjF-53hiF5nbratMfPjGVHf1G-iiS7WMQltAa9dE7YK6F0R-pMeyw5NurqAR2rf_doMjw-OG__ULAXBOPE7x5Gjh4qIZwIVJRHvH9tWVpADU9M8gWcvoDbquPEYSI5hBZki6N2rUGipDjwZth02lAmCyTQH4cNeziuJmAk1YtlvXS2tWecfvHIjsPz_ns8f3B5AJQyncM27ZNlsznIOYo1reAKofPFb163SNGsQCAY0ZMRvMJzghFaCUqLzBtOI1W0J8os3GfSc3LO7hY0cozxJU79CKQ0eut&amp;csui=3" TargetMode="External"/><Relationship Id="rId2" Type="http://schemas.openxmlformats.org/officeDocument/2006/relationships/hyperlink" Target="https://www.google.com/search?sca_esv=c5d665130b0b830b&amp;rlz=1C1ASUM_enIN1186IN1186&amp;cs=0&amp;sxsrf=AE3TifOKHyDG3jjb0aKBcd_d7EHPfOkv7w%3A1761831105473&amp;q=System+design+and+analysis&amp;sa=X&amp;ved=2ahUKEwj1pJqphMyQAxUYyDgGHZrHB6UQxccNegQIDhAB&amp;mstk=AUtExfD3Sp6re0lVkQZ5jhzaG9lL8MFLLeE51fUFV7BCsZsfJB02lz6Gw3Nanhephn2VTCCrxYiWnu2AdiHrZ45iuB94R5QuQaJCiU-1f0UZdvFpLWMqaeI71bczL-z3711Ld5MbTGNOGpze2co_qTosEZuSs0q3lKmpjF-53hiF5nbratMfPjGVHf1G-iiS7WMQltAa9dE7YK6F0R-pMeyw5NurqAR2rf_doMjw-OG__ULAXBOPE7x5Gjh4qIZwIVJRHvH9tWVpADU9M8gWcvoDbquPEYSI5hBZki6N2rUGipDjwZth02lAmCyTQH4cNeziuJmAk1YtlvXS2tWecfvHIjsPz_ns8f3B5AJQyncM27ZNlsznIOYo1reAKofPFb163SNGsQCAY0ZMRvMJzghFaCUqLzBtOI1W0J8os3GfSc3LO7hY0cozxJU79CKQ0eut&amp;csui=3" TargetMode="External"/><Relationship Id="rId1" Type="http://schemas.openxmlformats.org/officeDocument/2006/relationships/hyperlink" Target="https://www.google.com/search?sca_esv=c5d665130b0b830b&amp;rlz=1C1ASUM_enIN1186IN1186&amp;cs=0&amp;sxsrf=AE3TifOKHyDG3jjb0aKBcd_d7EHPfOkv7w%3A1761831105473&amp;q=Algorithm+and+software+development&amp;sa=X&amp;ved=2ahUKEwj1pJqphMyQAxUYyDgGHZrHB6UQxccNegQIDRAB&amp;mstk=AUtExfD3Sp6re0lVkQZ5jhzaG9lL8MFLLeE51fUFV7BCsZsfJB02lz6Gw3Nanhephn2VTCCrxYiWnu2AdiHrZ45iuB94R5QuQaJCiU-1f0UZdvFpLWMqaeI71bczL-z3711Ld5MbTGNOGpze2co_qTosEZuSs0q3lKmpjF-53hiF5nbratMfPjGVHf1G-iiS7WMQltAa9dE7YK6F0R-pMeyw5NurqAR2rf_doMjw-OG__ULAXBOPE7x5Gjh4qIZwIVJRHvH9tWVpADU9M8gWcvoDbquPEYSI5hBZki6N2rUGipDjwZth02lAmCyTQH4cNeziuJmAk1YtlvXS2tWecfvHIjsPz_ns8f3B5AJQyncM27ZNlsznIOYo1reAKofPFb163SNGsQCAY0ZMRvMJzghFaCUqLzBtOI1W0J8os3GfSc3LO7hY0cozxJU79CKQ0eut&amp;csui=3" TargetMode="Externa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audio" Target="../media/audio1.wav"/></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1038" y="782852"/>
            <a:ext cx="12250057" cy="2464367"/>
          </a:xfrm>
        </p:spPr>
        <p:txBody>
          <a:bodyPr>
            <a:noAutofit/>
          </a:bodyPr>
          <a:lstStyle/>
          <a:p>
            <a:r>
              <a:rPr lang="en-IN" sz="6800" b="1" dirty="0">
                <a:solidFill>
                  <a:schemeClr val="bg2">
                    <a:lumMod val="75000"/>
                  </a:schemeClr>
                </a:solidFill>
                <a:latin typeface="Modern Love" panose="04090805081005020601" pitchFamily="82" charset="0"/>
              </a:rPr>
              <a:t>CAREER</a:t>
            </a:r>
            <a:r>
              <a:rPr lang="en-IN" sz="6800" b="1" dirty="0">
                <a:solidFill>
                  <a:schemeClr val="bg2">
                    <a:lumMod val="75000"/>
                  </a:schemeClr>
                </a:solidFill>
                <a:effectLst>
                  <a:outerShdw blurRad="38100" dist="38100" dir="2700000" algn="tl">
                    <a:srgbClr val="000000">
                      <a:alpha val="43137"/>
                    </a:srgbClr>
                  </a:outerShdw>
                </a:effectLst>
                <a:latin typeface="Modern Love" panose="04090805081005020601" pitchFamily="82" charset="0"/>
              </a:rPr>
              <a:t> </a:t>
            </a:r>
            <a:r>
              <a:rPr lang="en-IN" sz="6800" b="1" cap="none" dirty="0">
                <a:solidFill>
                  <a:schemeClr val="bg2">
                    <a:lumMod val="75000"/>
                  </a:schemeClr>
                </a:solidFill>
                <a:latin typeface="Modern Love" panose="04090805081005020601" pitchFamily="82" charset="0"/>
              </a:rPr>
              <a:t>IN</a:t>
            </a:r>
            <a:r>
              <a:rPr lang="en-IN" sz="6800" b="1" cap="none" dirty="0">
                <a:solidFill>
                  <a:schemeClr val="bg2">
                    <a:lumMod val="75000"/>
                  </a:schemeClr>
                </a:solidFill>
                <a:effectLst>
                  <a:outerShdw blurRad="38100" dist="38100" dir="2700000" algn="tl">
                    <a:srgbClr val="000000">
                      <a:alpha val="43137"/>
                    </a:srgbClr>
                  </a:outerShdw>
                </a:effectLst>
                <a:latin typeface="Modern Love" panose="04090805081005020601" pitchFamily="82" charset="0"/>
              </a:rPr>
              <a:t> </a:t>
            </a:r>
            <a:r>
              <a:rPr lang="en-IN" sz="6800" b="1" dirty="0">
                <a:solidFill>
                  <a:schemeClr val="bg2">
                    <a:lumMod val="75000"/>
                  </a:schemeClr>
                </a:solidFill>
                <a:latin typeface="Modern Love" panose="04090805081005020601" pitchFamily="82" charset="0"/>
              </a:rPr>
              <a:t>COMPUTER</a:t>
            </a:r>
            <a:br>
              <a:rPr lang="en-IN" sz="6800" b="1" dirty="0">
                <a:solidFill>
                  <a:schemeClr val="bg2">
                    <a:lumMod val="75000"/>
                  </a:schemeClr>
                </a:solidFill>
                <a:effectLst>
                  <a:outerShdw blurRad="38100" dist="38100" dir="2700000" algn="tl">
                    <a:srgbClr val="000000">
                      <a:alpha val="43137"/>
                    </a:srgbClr>
                  </a:outerShdw>
                </a:effectLst>
                <a:latin typeface="Modern Love" panose="04090805081005020601" pitchFamily="82" charset="0"/>
              </a:rPr>
            </a:br>
            <a:r>
              <a:rPr lang="en-IN" sz="6800" b="1" dirty="0">
                <a:solidFill>
                  <a:schemeClr val="bg2">
                    <a:lumMod val="75000"/>
                  </a:schemeClr>
                </a:solidFill>
                <a:effectLst>
                  <a:outerShdw blurRad="38100" dist="38100" dir="2700000" algn="tl">
                    <a:srgbClr val="000000">
                      <a:alpha val="43137"/>
                    </a:srgbClr>
                  </a:outerShdw>
                </a:effectLst>
                <a:latin typeface="Modern Love" panose="04090805081005020601" pitchFamily="82" charset="0"/>
              </a:rPr>
              <a:t> </a:t>
            </a:r>
            <a:r>
              <a:rPr lang="en-IN" sz="6800" b="1" cap="none" dirty="0">
                <a:solidFill>
                  <a:schemeClr val="bg2">
                    <a:lumMod val="75000"/>
                  </a:schemeClr>
                </a:solidFill>
                <a:latin typeface="Modern Love" panose="04090805081005020601" pitchFamily="82" charset="0"/>
              </a:rPr>
              <a:t>SCIENCE</a:t>
            </a:r>
            <a:r>
              <a:rPr lang="en-IN" sz="6800" b="1" cap="none" dirty="0">
                <a:solidFill>
                  <a:schemeClr val="bg2">
                    <a:lumMod val="75000"/>
                  </a:schemeClr>
                </a:solidFill>
                <a:effectLst>
                  <a:outerShdw blurRad="38100" dist="38100" dir="2700000" algn="tl">
                    <a:srgbClr val="000000">
                      <a:alpha val="43137"/>
                    </a:srgbClr>
                  </a:outerShdw>
                </a:effectLst>
                <a:latin typeface="Modern Love" panose="04090805081005020601" pitchFamily="82" charset="0"/>
              </a:rPr>
              <a:t> </a:t>
            </a:r>
            <a:r>
              <a:rPr lang="en-IN" sz="6800" b="1" dirty="0">
                <a:solidFill>
                  <a:schemeClr val="bg2">
                    <a:lumMod val="75000"/>
                  </a:schemeClr>
                </a:solidFill>
                <a:effectLst>
                  <a:outerShdw blurRad="38100" dist="38100" dir="2700000" algn="tl">
                    <a:srgbClr val="000000">
                      <a:alpha val="43137"/>
                    </a:srgbClr>
                  </a:outerShdw>
                </a:effectLst>
                <a:latin typeface="Modern Love" panose="04090805081005020601" pitchFamily="82" charset="0"/>
              </a:rPr>
              <a:t>&amp; </a:t>
            </a:r>
            <a:r>
              <a:rPr lang="en-IN" sz="6800" b="1" dirty="0">
                <a:solidFill>
                  <a:schemeClr val="bg2">
                    <a:lumMod val="75000"/>
                  </a:schemeClr>
                </a:solidFill>
                <a:latin typeface="Modern Love" panose="04090805081005020601" pitchFamily="82" charset="0"/>
              </a:rPr>
              <a:t>ENGINEERING</a:t>
            </a:r>
            <a:endParaRPr lang="en-IN" sz="6800" b="1" dirty="0">
              <a:solidFill>
                <a:schemeClr val="bg2">
                  <a:lumMod val="75000"/>
                </a:schemeClr>
              </a:solidFill>
              <a:latin typeface="Modern Love" panose="04090805081005020601" pitchFamily="82" charset="0"/>
            </a:endParaRPr>
          </a:p>
        </p:txBody>
      </p:sp>
      <p:sp>
        <p:nvSpPr>
          <p:cNvPr id="3" name="Subtitle 2"/>
          <p:cNvSpPr>
            <a:spLocks noGrp="1"/>
          </p:cNvSpPr>
          <p:nvPr>
            <p:ph type="subTitle" idx="1"/>
          </p:nvPr>
        </p:nvSpPr>
        <p:spPr>
          <a:xfrm>
            <a:off x="2438399" y="4905829"/>
            <a:ext cx="9681029" cy="870858"/>
          </a:xfrm>
        </p:spPr>
        <p:txBody>
          <a:bodyPr>
            <a:normAutofit/>
          </a:bodyPr>
          <a:lstStyle/>
          <a:p>
            <a:r>
              <a:rPr lang="en-IN" sz="3200" dirty="0">
                <a:solidFill>
                  <a:srgbClr val="FFC000"/>
                </a:solidFill>
              </a:rPr>
              <a:t>PRESENTED </a:t>
            </a:r>
            <a:r>
              <a:rPr lang="en-US" altLang="en-IN" sz="3200" dirty="0">
                <a:solidFill>
                  <a:srgbClr val="FFC000"/>
                </a:solidFill>
              </a:rPr>
              <a:t>by AAYUSH SURYAWANSHI</a:t>
            </a:r>
            <a:endParaRPr lang="en-US" altLang="en-IN" sz="3200" dirty="0">
              <a:solidFill>
                <a:srgbClr val="FFC000"/>
              </a:solidFill>
            </a:endParaRPr>
          </a:p>
          <a:p>
            <a:endParaRPr lang="en-US" altLang="en-IN" sz="3200" dirty="0">
              <a:solidFill>
                <a:srgbClr val="FFC000"/>
              </a:solidFill>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airplane"/>
        <p:sndAc>
          <p:stSnd>
            <p:snd r:embed="rId1" name="coin.wav"/>
          </p:stSnd>
        </p:sndAc>
      </p:transition>
    </mc:Choice>
    <mc:Fallback>
      <p:transition>
        <p:fade/>
        <p:sndAc>
          <p:stSnd>
            <p:snd r:embed="rId1" name="coin.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7813" y="212118"/>
            <a:ext cx="9905998" cy="1478570"/>
          </a:xfrm>
        </p:spPr>
        <p:txBody>
          <a:bodyPr>
            <a:normAutofit/>
          </a:bodyPr>
          <a:lstStyle/>
          <a:p>
            <a:r>
              <a:rPr lang="en-IN" sz="5400" b="1" u="sng" cap="none" dirty="0">
                <a:solidFill>
                  <a:schemeClr val="bg1"/>
                </a:solidFill>
                <a:latin typeface="Algerian" panose="04020705040A02060702" pitchFamily="82" charset="0"/>
              </a:rPr>
              <a:t>ABOUT COMPUTER SCIENCE</a:t>
            </a:r>
            <a:endParaRPr lang="en-IN" sz="5400" b="1" u="sng" cap="none" dirty="0">
              <a:solidFill>
                <a:schemeClr val="bg1"/>
              </a:solidFill>
              <a:latin typeface="Algerian" panose="04020705040A02060702" pitchFamily="82" charset="0"/>
            </a:endParaRPr>
          </a:p>
        </p:txBody>
      </p:sp>
      <p:sp>
        <p:nvSpPr>
          <p:cNvPr id="3" name="Content Placeholder 2"/>
          <p:cNvSpPr>
            <a:spLocks noGrp="1"/>
          </p:cNvSpPr>
          <p:nvPr>
            <p:ph idx="1"/>
          </p:nvPr>
        </p:nvSpPr>
        <p:spPr>
          <a:xfrm>
            <a:off x="364897" y="2030339"/>
            <a:ext cx="9200017" cy="4615543"/>
          </a:xfrm>
        </p:spPr>
        <p:txBody>
          <a:bodyPr>
            <a:normAutofit/>
          </a:bodyPr>
          <a:lstStyle/>
          <a:p>
            <a:r>
              <a:rPr lang="en-US" dirty="0"/>
              <a:t>Computer Science Engineering (CSE) is an engineering discipline that combines the principles of computer science and electrical engineering to design, develop, and maintain computer systems and software. It covers theoretical foundations like computation and algorithms, as well as practical applications like software development, artificial intelligence, and cybersecurity. CSE graduates have a broad career scope in diverse fields ranging from software and AI to robotics, data analysis, and beyond, as technology becomes integral to every modern industry.  </a:t>
            </a:r>
            <a:endParaRPr lang="en-IN" dirty="0"/>
          </a:p>
        </p:txBody>
      </p:sp>
      <p:pic>
        <p:nvPicPr>
          <p:cNvPr id="5" name="Picture 4" descr="A robot and a computer&#10;&#10;AI-generated content may be incorrect."/>
          <p:cNvPicPr>
            <a:picLocks noChangeAspect="1"/>
          </p:cNvPicPr>
          <p:nvPr/>
        </p:nvPicPr>
        <p:blipFill>
          <a:blip r:embed="rId1"/>
          <a:stretch>
            <a:fillRect/>
          </a:stretch>
        </p:blipFill>
        <p:spPr>
          <a:xfrm>
            <a:off x="9225885" y="2279176"/>
            <a:ext cx="2752308" cy="2545307"/>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airplane"/>
        <p:sndAc>
          <p:stSnd>
            <p:snd r:embed="rId2" name="bomb.wav"/>
          </p:stSnd>
        </p:sndAc>
      </p:transition>
    </mc:Choice>
    <mc:Fallback>
      <p:transition>
        <p:fade/>
        <p:sndAc>
          <p:stSnd>
            <p:snd r:embed="rId2" name="bomb.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7813" y="212118"/>
            <a:ext cx="9905998" cy="1478570"/>
          </a:xfrm>
        </p:spPr>
        <p:txBody>
          <a:bodyPr>
            <a:normAutofit/>
          </a:bodyPr>
          <a:lstStyle/>
          <a:p>
            <a:r>
              <a:rPr lang="en-IN" sz="5400" b="1" u="sng" cap="none" dirty="0">
                <a:solidFill>
                  <a:schemeClr val="bg1"/>
                </a:solidFill>
                <a:latin typeface="Algerian" panose="04020705040A02060702" pitchFamily="82" charset="0"/>
              </a:rPr>
              <a:t>ABOUT COMPUTER SCIENCE</a:t>
            </a:r>
            <a:endParaRPr lang="en-IN" sz="5400" b="1" u="sng" cap="none" dirty="0">
              <a:solidFill>
                <a:schemeClr val="bg1"/>
              </a:solidFill>
              <a:latin typeface="Algerian" panose="04020705040A02060702" pitchFamily="82" charset="0"/>
            </a:endParaRPr>
          </a:p>
        </p:txBody>
      </p:sp>
      <p:sp>
        <p:nvSpPr>
          <p:cNvPr id="3" name="Content Placeholder 2"/>
          <p:cNvSpPr>
            <a:spLocks noGrp="1"/>
          </p:cNvSpPr>
          <p:nvPr>
            <p:ph idx="1"/>
          </p:nvPr>
        </p:nvSpPr>
        <p:spPr>
          <a:xfrm>
            <a:off x="364897" y="2030339"/>
            <a:ext cx="9200017" cy="4615543"/>
          </a:xfrm>
        </p:spPr>
        <p:txBody>
          <a:bodyPr>
            <a:normAutofit/>
          </a:bodyPr>
          <a:lstStyle/>
          <a:p>
            <a:r>
              <a:rPr lang="en-US" dirty="0"/>
              <a:t>Computer Science Engineering (CSE) is an engineering discipline that combines the principles of computer science and electrical engineering to design, develop, and maintain computer systems and software. It covers theoretical foundations like computation and algorithms, as well as practical applications like software development, artificial intelligence, and cybersecurity. CSE graduates have a broad career scope in diverse fields ranging from software and AI to robotics, data analysis, and beyond, as technology becomes integral to every modern industry.  </a:t>
            </a:r>
            <a:endParaRPr lang="en-IN" dirty="0"/>
          </a:p>
        </p:txBody>
      </p:sp>
      <p:pic>
        <p:nvPicPr>
          <p:cNvPr id="5" name="Picture 4" descr="A robot and a computer&#10;&#10;AI-generated content may be incorrect."/>
          <p:cNvPicPr>
            <a:picLocks noChangeAspect="1"/>
          </p:cNvPicPr>
          <p:nvPr/>
        </p:nvPicPr>
        <p:blipFill>
          <a:blip r:embed="rId1"/>
          <a:stretch>
            <a:fillRect/>
          </a:stretch>
        </p:blipFill>
        <p:spPr>
          <a:xfrm>
            <a:off x="9225885" y="2279176"/>
            <a:ext cx="2752308" cy="2545307"/>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airplane"/>
        <p:sndAc>
          <p:stSnd>
            <p:snd r:embed="rId2" name="bomb.wav"/>
          </p:stSnd>
        </p:sndAc>
      </p:transition>
    </mc:Choice>
    <mc:Fallback>
      <p:transition>
        <p:fade/>
        <p:sndAc>
          <p:stSnd>
            <p:snd r:embed="rId2" name="bomb.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0094" y="218332"/>
            <a:ext cx="9905998" cy="1478570"/>
          </a:xfrm>
        </p:spPr>
        <p:txBody>
          <a:bodyPr/>
          <a:lstStyle/>
          <a:p>
            <a:r>
              <a:rPr lang="en-IN" sz="4400" u="sng" dirty="0">
                <a:solidFill>
                  <a:schemeClr val="bg1"/>
                </a:solidFill>
                <a:latin typeface="Algerian" panose="04020705040A02060702" pitchFamily="82" charset="0"/>
              </a:rPr>
              <a:t>Key responsibilities </a:t>
            </a:r>
            <a:r>
              <a:rPr lang="en-IN" u="sng" dirty="0">
                <a:solidFill>
                  <a:schemeClr val="bg1"/>
                </a:solidFill>
                <a:latin typeface="Algerian" panose="04020705040A02060702" pitchFamily="82" charset="0"/>
              </a:rPr>
              <a:t>:</a:t>
            </a:r>
            <a:endParaRPr lang="en-IN" u="sng" dirty="0">
              <a:solidFill>
                <a:schemeClr val="bg1"/>
              </a:solidFill>
              <a:latin typeface="Algerian" panose="04020705040A02060702" pitchFamily="82" charset="0"/>
            </a:endParaRPr>
          </a:p>
        </p:txBody>
      </p:sp>
      <p:sp>
        <p:nvSpPr>
          <p:cNvPr id="3" name="Content Placeholder 2"/>
          <p:cNvSpPr>
            <a:spLocks noGrp="1"/>
          </p:cNvSpPr>
          <p:nvPr>
            <p:ph idx="1"/>
          </p:nvPr>
        </p:nvSpPr>
        <p:spPr>
          <a:xfrm>
            <a:off x="650094" y="1696903"/>
            <a:ext cx="10397318" cy="4376352"/>
          </a:xfrm>
        </p:spPr>
        <p:txBody>
          <a:bodyPr>
            <a:normAutofit fontScale="55000" lnSpcReduction="20000"/>
          </a:bodyPr>
          <a:lstStyle/>
          <a:p>
            <a:r>
              <a:rPr lang="en-US" b="1" dirty="0">
                <a:hlinkClick r:id="rId1"/>
              </a:rPr>
              <a:t>Algorithm and software development</a:t>
            </a:r>
            <a:r>
              <a:rPr lang="en-US" b="1" dirty="0"/>
              <a:t>:</a:t>
            </a:r>
            <a:r>
              <a:rPr lang="en-US" dirty="0"/>
              <a:t> </a:t>
            </a:r>
            <a:endParaRPr lang="en-US" dirty="0"/>
          </a:p>
          <a:p>
            <a:r>
              <a:rPr lang="en-US" dirty="0"/>
              <a:t>Create, test, and maintain new or existing code and programs. This involves identifying and troubleshooting bugs, writing clean and well-documented code, and designing algorithms for efficiency and scalability. </a:t>
            </a:r>
            <a:endParaRPr lang="en-US" dirty="0"/>
          </a:p>
          <a:p>
            <a:r>
              <a:rPr lang="en-US" b="1" dirty="0">
                <a:hlinkClick r:id="rId2"/>
              </a:rPr>
              <a:t>System design and analysis</a:t>
            </a:r>
            <a:r>
              <a:rPr lang="en-US" b="1" dirty="0"/>
              <a:t>:</a:t>
            </a:r>
            <a:r>
              <a:rPr lang="en-US" dirty="0"/>
              <a:t> </a:t>
            </a:r>
            <a:endParaRPr lang="en-US" dirty="0"/>
          </a:p>
          <a:p>
            <a:r>
              <a:rPr lang="en-US" dirty="0"/>
              <a:t>Analyze user needs and design computer systems, software, and networks to meet those requirements. This can include developing new tools or upgrading existing systems to improve performance. </a:t>
            </a:r>
            <a:endParaRPr lang="en-US" dirty="0"/>
          </a:p>
          <a:p>
            <a:r>
              <a:rPr lang="en-US" b="1" dirty="0">
                <a:hlinkClick r:id="rId3"/>
              </a:rPr>
              <a:t>Research and innovation</a:t>
            </a:r>
            <a:r>
              <a:rPr lang="en-US" b="1" dirty="0"/>
              <a:t>:</a:t>
            </a:r>
            <a:r>
              <a:rPr lang="en-US" dirty="0"/>
              <a:t> </a:t>
            </a:r>
            <a:endParaRPr lang="en-US" dirty="0"/>
          </a:p>
          <a:p>
            <a:r>
              <a:rPr lang="en-US" dirty="0"/>
              <a:t>Conduct research to develop new computational theories, models, and technologies. This includes applying concepts from machine learning, artificial intelligence, and data science to solve real-world problems. </a:t>
            </a:r>
            <a:endParaRPr lang="en-US" dirty="0"/>
          </a:p>
          <a:p>
            <a:r>
              <a:rPr lang="en-US" b="1" dirty="0">
                <a:hlinkClick r:id="rId4"/>
              </a:rPr>
              <a:t>Data management and analysis</a:t>
            </a:r>
            <a:r>
              <a:rPr lang="en-US" b="1" dirty="0"/>
              <a:t>:</a:t>
            </a:r>
            <a:r>
              <a:rPr lang="en-US" dirty="0"/>
              <a:t> </a:t>
            </a:r>
            <a:endParaRPr lang="en-US" dirty="0"/>
          </a:p>
          <a:p>
            <a:r>
              <a:rPr lang="en-US" dirty="0"/>
              <a:t>Design and manage databases, analyze large-scale data sets, and extract meaningful insights to inform decision-making. </a:t>
            </a:r>
            <a:endParaRPr lang="en-US" dirty="0"/>
          </a:p>
          <a:p>
            <a:r>
              <a:rPr lang="en-US" b="1" dirty="0">
                <a:hlinkClick r:id="rId5"/>
              </a:rPr>
              <a:t>Collaboration and communication</a:t>
            </a:r>
            <a:r>
              <a:rPr lang="en-US" b="1" dirty="0"/>
              <a:t>:</a:t>
            </a:r>
            <a:r>
              <a:rPr lang="en-US" dirty="0"/>
              <a:t> </a:t>
            </a:r>
            <a:endParaRPr lang="en-US" dirty="0"/>
          </a:p>
          <a:p>
            <a:r>
              <a:rPr lang="en-US" dirty="0"/>
              <a:t>Work with other professionals like software engineers and data scientists, and present technical information and research findings to various stakeholders. </a:t>
            </a:r>
            <a:endParaRPr lang="en-US" dirty="0"/>
          </a:p>
          <a:p>
            <a:endParaRPr lang="en-IN"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airplane"/>
        <p:sndAc>
          <p:stSnd>
            <p:snd r:embed="rId6" name="bomb.wav"/>
          </p:stSnd>
        </p:sndAc>
      </p:transition>
    </mc:Choice>
    <mc:Fallback>
      <p:transition>
        <p:fade/>
        <p:sndAc>
          <p:stSnd>
            <p:snd r:embed="rId6" name="bomb.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2830" y="-218364"/>
            <a:ext cx="11709779" cy="2315452"/>
          </a:xfrm>
        </p:spPr>
        <p:txBody>
          <a:bodyPr>
            <a:normAutofit/>
          </a:bodyPr>
          <a:lstStyle/>
          <a:p>
            <a:r>
              <a:rPr lang="en-IN" sz="4000" u="sng" dirty="0">
                <a:solidFill>
                  <a:schemeClr val="bg1"/>
                </a:solidFill>
                <a:latin typeface="Algerian" panose="04020705040A02060702" pitchFamily="82" charset="0"/>
              </a:rPr>
              <a:t>WHO’S COMPUTER SCIENCE SPACIALIST</a:t>
            </a:r>
            <a:endParaRPr lang="en-IN" sz="4000" u="sng" dirty="0">
              <a:solidFill>
                <a:schemeClr val="bg1"/>
              </a:solidFill>
              <a:latin typeface="Algerian" panose="04020705040A02060702" pitchFamily="82" charset="0"/>
            </a:endParaRPr>
          </a:p>
        </p:txBody>
      </p:sp>
      <p:sp>
        <p:nvSpPr>
          <p:cNvPr id="3" name="Content Placeholder 2"/>
          <p:cNvSpPr>
            <a:spLocks noGrp="1"/>
          </p:cNvSpPr>
          <p:nvPr>
            <p:ph idx="1"/>
          </p:nvPr>
        </p:nvSpPr>
        <p:spPr>
          <a:xfrm>
            <a:off x="464025" y="1733266"/>
            <a:ext cx="10433262" cy="4440073"/>
          </a:xfrm>
        </p:spPr>
        <p:txBody>
          <a:bodyPr/>
          <a:lstStyle/>
          <a:p>
            <a:r>
              <a:rPr lang="en-US" dirty="0"/>
              <a:t>A computer science specialist is an individual who applies </a:t>
            </a:r>
            <a:endParaRPr lang="en-US" dirty="0"/>
          </a:p>
          <a:p>
            <a:r>
              <a:rPr lang="en-US" dirty="0"/>
              <a:t> their expert knowledge in computer science to design, develop,  </a:t>
            </a:r>
            <a:endParaRPr lang="en-US" dirty="0"/>
          </a:p>
          <a:p>
            <a:pPr marL="0" indent="0">
              <a:buNone/>
            </a:pPr>
            <a:r>
              <a:rPr lang="en-US" dirty="0"/>
              <a:t>and analyze software and hardware solutions.</a:t>
            </a:r>
            <a:endParaRPr lang="en-US" dirty="0"/>
          </a:p>
          <a:p>
            <a:pPr marL="0" indent="0">
              <a:buNone/>
            </a:pPr>
            <a:r>
              <a:rPr lang="en-US" dirty="0"/>
              <a:t> They use skills in programming, technical knowledge</a:t>
            </a:r>
            <a:endParaRPr lang="en-US" dirty="0"/>
          </a:p>
          <a:p>
            <a:pPr marL="0" indent="0">
              <a:buNone/>
            </a:pPr>
            <a:r>
              <a:rPr lang="en-US" dirty="0"/>
              <a:t>, and analytical thinking to solve complex problems</a:t>
            </a:r>
            <a:endParaRPr lang="en-US" dirty="0"/>
          </a:p>
          <a:p>
            <a:pPr marL="0" indent="0">
              <a:buNone/>
            </a:pPr>
            <a:r>
              <a:rPr lang="en-US" dirty="0"/>
              <a:t> in various fields by creating and improving</a:t>
            </a:r>
            <a:endParaRPr lang="en-US" dirty="0"/>
          </a:p>
          <a:p>
            <a:pPr marL="0" indent="0">
              <a:buNone/>
            </a:pPr>
            <a:r>
              <a:rPr lang="en-US" dirty="0"/>
              <a:t> computer systems, programs, and networks</a:t>
            </a:r>
            <a:endParaRPr lang="en-IN" dirty="0"/>
          </a:p>
        </p:txBody>
      </p:sp>
      <p:pic>
        <p:nvPicPr>
          <p:cNvPr id="5" name="Picture 4" descr="A person touching a computer&#10;&#10;AI-generated content may be incorrect."/>
          <p:cNvPicPr>
            <a:picLocks noChangeAspect="1"/>
          </p:cNvPicPr>
          <p:nvPr/>
        </p:nvPicPr>
        <p:blipFill>
          <a:blip r:embed="rId1"/>
          <a:stretch>
            <a:fillRect/>
          </a:stretch>
        </p:blipFill>
        <p:spPr>
          <a:xfrm>
            <a:off x="7083188" y="2988860"/>
            <a:ext cx="4995081" cy="2729552"/>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airplane"/>
        <p:sndAc>
          <p:stSnd>
            <p:snd r:embed="rId2" name="bomb.wav"/>
          </p:stSnd>
        </p:sndAc>
      </p:transition>
    </mc:Choice>
    <mc:Fallback>
      <p:transition>
        <p:fade/>
        <p:sndAc>
          <p:stSnd>
            <p:snd r:embed="rId2" name="bomb.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0627" y="1009934"/>
            <a:ext cx="5884635" cy="1774209"/>
          </a:xfrm>
        </p:spPr>
        <p:txBody>
          <a:bodyPr>
            <a:normAutofit/>
          </a:bodyPr>
          <a:lstStyle/>
          <a:p>
            <a:r>
              <a:rPr lang="en-IN" sz="4800" u="sng" dirty="0">
                <a:solidFill>
                  <a:schemeClr val="bg1"/>
                </a:solidFill>
                <a:latin typeface="Algerian" panose="04020705040A02060702" pitchFamily="82" charset="0"/>
              </a:rPr>
              <a:t>ROAD MAP</a:t>
            </a:r>
            <a:endParaRPr lang="en-IN" sz="4800" u="sng" dirty="0">
              <a:solidFill>
                <a:schemeClr val="bg1"/>
              </a:solidFill>
              <a:latin typeface="Algerian" panose="04020705040A02060702" pitchFamily="82" charset="0"/>
            </a:endParaRPr>
          </a:p>
        </p:txBody>
      </p:sp>
      <p:sp>
        <p:nvSpPr>
          <p:cNvPr id="3" name="Content Placeholder 2"/>
          <p:cNvSpPr>
            <a:spLocks noGrp="1"/>
          </p:cNvSpPr>
          <p:nvPr>
            <p:ph idx="1"/>
          </p:nvPr>
        </p:nvSpPr>
        <p:spPr>
          <a:xfrm>
            <a:off x="982639" y="614150"/>
            <a:ext cx="9498841" cy="1478570"/>
          </a:xfrm>
        </p:spPr>
        <p:txBody>
          <a:bodyPr/>
          <a:lstStyle/>
          <a:p>
            <a:pPr marL="0" indent="0">
              <a:buNone/>
            </a:pPr>
            <a:r>
              <a:rPr lang="en-IN" dirty="0"/>
              <a:t> Advising and training colleagues on computer science best practices and                            collaborating with other IT and security personnel</a:t>
            </a:r>
            <a:endParaRPr lang="en-IN" dirty="0"/>
          </a:p>
          <a:p>
            <a:pPr marL="0" indent="0">
              <a:buNone/>
            </a:pPr>
            <a:endParaRPr lang="en-IN" dirty="0"/>
          </a:p>
        </p:txBody>
      </p:sp>
      <p:pic>
        <p:nvPicPr>
          <p:cNvPr id="5" name="Picture 4" descr="A poster of a computer science&#10;&#10;AI-generated content may be incorrect."/>
          <p:cNvPicPr>
            <a:picLocks noChangeAspect="1"/>
          </p:cNvPicPr>
          <p:nvPr/>
        </p:nvPicPr>
        <p:blipFill>
          <a:blip r:embed="rId1"/>
          <a:stretch>
            <a:fillRect/>
          </a:stretch>
        </p:blipFill>
        <p:spPr>
          <a:xfrm>
            <a:off x="1607031" y="2674961"/>
            <a:ext cx="8601493" cy="3916908"/>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airplane"/>
        <p:sndAc>
          <p:stSnd>
            <p:snd r:embed="rId2" name="bomb.wav"/>
          </p:stSnd>
        </p:sndAc>
      </p:transition>
    </mc:Choice>
    <mc:Fallback>
      <p:transition>
        <p:fade/>
        <p:sndAc>
          <p:stSnd>
            <p:snd r:embed="rId2" name="bomb.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1188" y="-313898"/>
            <a:ext cx="8208677" cy="2097088"/>
          </a:xfrm>
        </p:spPr>
        <p:txBody>
          <a:bodyPr>
            <a:normAutofit/>
          </a:bodyPr>
          <a:lstStyle/>
          <a:p>
            <a:r>
              <a:rPr lang="en-IN" sz="5400" u="sng" dirty="0">
                <a:solidFill>
                  <a:schemeClr val="bg1"/>
                </a:solidFill>
                <a:latin typeface="Algerian" panose="04020705040A02060702" pitchFamily="82" charset="0"/>
              </a:rPr>
              <a:t>Skills required </a:t>
            </a:r>
            <a:endParaRPr lang="en-IN" sz="5400" u="sng" dirty="0">
              <a:solidFill>
                <a:schemeClr val="bg1"/>
              </a:solidFill>
              <a:latin typeface="Algerian" panose="04020705040A02060702" pitchFamily="82" charset="0"/>
            </a:endParaRPr>
          </a:p>
        </p:txBody>
      </p:sp>
      <p:sp>
        <p:nvSpPr>
          <p:cNvPr id="3" name="Content Placeholder 2"/>
          <p:cNvSpPr>
            <a:spLocks noGrp="1"/>
          </p:cNvSpPr>
          <p:nvPr>
            <p:ph idx="1"/>
          </p:nvPr>
        </p:nvSpPr>
        <p:spPr>
          <a:xfrm>
            <a:off x="682388" y="1596788"/>
            <a:ext cx="11750722" cy="4885899"/>
          </a:xfrm>
        </p:spPr>
        <p:txBody>
          <a:bodyPr>
            <a:normAutofit fontScale="62500" lnSpcReduction="20000"/>
          </a:bodyPr>
          <a:lstStyle/>
          <a:p>
            <a:r>
              <a:rPr lang="en-IN" b="1" dirty="0">
                <a:solidFill>
                  <a:schemeClr val="bg2"/>
                </a:solidFill>
                <a:latin typeface="Modern Love" panose="04090805081005020601" pitchFamily="82" charset="0"/>
              </a:rPr>
              <a:t>TECHNICAL SKILLS</a:t>
            </a:r>
            <a:endParaRPr lang="en-IN" b="1" dirty="0">
              <a:solidFill>
                <a:schemeClr val="bg2"/>
              </a:solidFill>
              <a:latin typeface="Modern Love" panose="04090805081005020601" pitchFamily="82" charset="0"/>
            </a:endParaRPr>
          </a:p>
          <a:p>
            <a:r>
              <a:rPr lang="en-IN" b="1" dirty="0"/>
              <a:t>Programming languages:</a:t>
            </a:r>
            <a:r>
              <a:rPr lang="en-IN" dirty="0"/>
              <a:t> </a:t>
            </a:r>
            <a:endParaRPr lang="en-IN" dirty="0"/>
          </a:p>
          <a:p>
            <a:r>
              <a:rPr lang="en-IN" dirty="0"/>
              <a:t>Proficiency in languages like Python, Java, C++, and JavaScript is fundamental for creating software and applications. </a:t>
            </a:r>
            <a:endParaRPr lang="en-IN" dirty="0"/>
          </a:p>
          <a:p>
            <a:r>
              <a:rPr lang="en-IN" b="1" dirty="0"/>
              <a:t>Data structures and algorithms:</a:t>
            </a:r>
            <a:r>
              <a:rPr lang="en-IN" dirty="0"/>
              <a:t> </a:t>
            </a:r>
            <a:endParaRPr lang="en-IN" dirty="0"/>
          </a:p>
          <a:p>
            <a:r>
              <a:rPr lang="en-IN" dirty="0"/>
              <a:t>A strong understanding of DSA is crucial for efficient problem-solving. </a:t>
            </a:r>
            <a:endParaRPr lang="en-IN" dirty="0"/>
          </a:p>
          <a:p>
            <a:r>
              <a:rPr lang="en-IN" b="1" dirty="0"/>
              <a:t>Software development:</a:t>
            </a:r>
            <a:r>
              <a:rPr lang="en-IN" dirty="0"/>
              <a:t> </a:t>
            </a:r>
            <a:endParaRPr lang="en-IN" dirty="0"/>
          </a:p>
          <a:p>
            <a:r>
              <a:rPr lang="en-IN" dirty="0"/>
              <a:t>Knowledge of the software development lifecycle, including methodologies like Agile, version control (Git), and testing.  </a:t>
            </a:r>
            <a:endParaRPr lang="en-IN" dirty="0"/>
          </a:p>
          <a:p>
            <a:endParaRPr lang="en-IN" dirty="0"/>
          </a:p>
          <a:p>
            <a:r>
              <a:rPr lang="en-US" b="1" dirty="0">
                <a:solidFill>
                  <a:schemeClr val="bg2"/>
                </a:solidFill>
                <a:latin typeface="Modern Love" panose="04090805081005020601" pitchFamily="82" charset="0"/>
              </a:rPr>
              <a:t>SOFT SKILLS</a:t>
            </a:r>
            <a:endParaRPr lang="en-US" b="1" dirty="0">
              <a:solidFill>
                <a:schemeClr val="bg2"/>
              </a:solidFill>
              <a:latin typeface="Modern Love" panose="04090805081005020601" pitchFamily="82" charset="0"/>
            </a:endParaRPr>
          </a:p>
          <a:p>
            <a:r>
              <a:rPr lang="en-US" b="1" dirty="0"/>
              <a:t>Problem-solving:</a:t>
            </a:r>
            <a:r>
              <a:rPr lang="en-US" dirty="0"/>
              <a:t> </a:t>
            </a:r>
            <a:endParaRPr lang="en-US" dirty="0"/>
          </a:p>
          <a:p>
            <a:r>
              <a:rPr lang="en-US" dirty="0"/>
              <a:t>The ability to analyze complex issues, think critically, and develop effective solutions. </a:t>
            </a:r>
            <a:endParaRPr lang="en-US" dirty="0"/>
          </a:p>
          <a:p>
            <a:r>
              <a:rPr lang="en-US" b="1" dirty="0"/>
              <a:t>Communication:</a:t>
            </a:r>
            <a:r>
              <a:rPr lang="en-US" dirty="0"/>
              <a:t> </a:t>
            </a:r>
            <a:endParaRPr lang="en-US" dirty="0"/>
          </a:p>
          <a:p>
            <a:r>
              <a:rPr lang="en-US" dirty="0"/>
              <a:t>The capacity to clearly explain technical concepts to both technical and non-technical audiences. </a:t>
            </a:r>
            <a:endParaRPr lang="en-US" dirty="0"/>
          </a:p>
          <a:p>
            <a:endParaRPr lang="en-IN" dirty="0"/>
          </a:p>
          <a:p>
            <a:endParaRPr lang="en-IN"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airplane"/>
        <p:sndAc>
          <p:stSnd>
            <p:snd r:embed="rId1" name="bomb.wav"/>
          </p:stSnd>
        </p:sndAc>
      </p:transition>
    </mc:Choice>
    <mc:Fallback>
      <p:transition>
        <p:fade/>
        <p:sndAc>
          <p:stSnd>
            <p:snd r:embed="rId1" name="bomb.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70462" y="-104813"/>
            <a:ext cx="9905999" cy="1478570"/>
          </a:xfrm>
        </p:spPr>
        <p:txBody>
          <a:bodyPr>
            <a:normAutofit/>
          </a:bodyPr>
          <a:lstStyle/>
          <a:p>
            <a:r>
              <a:rPr lang="en-IN" sz="4800" u="sng" dirty="0">
                <a:solidFill>
                  <a:schemeClr val="bg2"/>
                </a:solidFill>
                <a:latin typeface="Algerian" panose="04020705040A02060702" pitchFamily="82" charset="0"/>
              </a:rPr>
              <a:t>FUTURE SCOPE </a:t>
            </a:r>
            <a:endParaRPr lang="en-IN" sz="4800" u="sng" dirty="0">
              <a:solidFill>
                <a:schemeClr val="bg2"/>
              </a:solidFill>
              <a:latin typeface="Algerian" panose="04020705040A02060702" pitchFamily="82" charset="0"/>
            </a:endParaRPr>
          </a:p>
        </p:txBody>
      </p:sp>
      <p:sp>
        <p:nvSpPr>
          <p:cNvPr id="3" name="Content Placeholder 2"/>
          <p:cNvSpPr>
            <a:spLocks noGrp="1"/>
          </p:cNvSpPr>
          <p:nvPr>
            <p:ph idx="1"/>
          </p:nvPr>
        </p:nvSpPr>
        <p:spPr>
          <a:xfrm>
            <a:off x="914400" y="1514901"/>
            <a:ext cx="10133011" cy="4276300"/>
          </a:xfrm>
        </p:spPr>
        <p:txBody>
          <a:bodyPr>
            <a:normAutofit/>
          </a:bodyPr>
          <a:lstStyle/>
          <a:p>
            <a:r>
              <a:rPr lang="en-US" dirty="0"/>
              <a:t>The future scope for computer science (CS) engineers is vast and promising, with high demand in emerging fields like Artificial Intelligence (AI), Machine Learning (ML), cybersecurity, and cloud computing. </a:t>
            </a:r>
            <a:endParaRPr lang="en-US" dirty="0"/>
          </a:p>
          <a:p>
            <a:pPr marL="0" indent="0">
              <a:buNone/>
            </a:pPr>
            <a:r>
              <a:rPr lang="en-US" sz="3600" u="sng" dirty="0">
                <a:solidFill>
                  <a:schemeClr val="bg2"/>
                </a:solidFill>
                <a:latin typeface="Bodoni MT Condensed" panose="02070606080606020203" pitchFamily="18" charset="0"/>
              </a:rPr>
              <a:t>Emerging and in-demand fields</a:t>
            </a:r>
            <a:endParaRPr lang="en-US" sz="3600" u="sng" dirty="0">
              <a:solidFill>
                <a:schemeClr val="bg2"/>
              </a:solidFill>
              <a:latin typeface="Bodoni MT Condensed" panose="02070606080606020203" pitchFamily="18" charset="0"/>
            </a:endParaRPr>
          </a:p>
          <a:p>
            <a:r>
              <a:rPr lang="en-US" dirty="0"/>
              <a:t>AI&amp;ML</a:t>
            </a:r>
            <a:endParaRPr lang="en-US" dirty="0"/>
          </a:p>
          <a:p>
            <a:r>
              <a:rPr lang="en-US" dirty="0"/>
              <a:t>Data science</a:t>
            </a:r>
            <a:endParaRPr lang="en-US" dirty="0"/>
          </a:p>
          <a:p>
            <a:r>
              <a:rPr lang="en-US" dirty="0"/>
              <a:t> cyber security</a:t>
            </a:r>
            <a:endParaRPr lang="en-US" dirty="0"/>
          </a:p>
          <a:p>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airplane"/>
        <p:sndAc>
          <p:stSnd>
            <p:snd r:embed="rId1" name="bomb.wav"/>
          </p:stSnd>
        </p:sndAc>
      </p:transition>
    </mc:Choice>
    <mc:Fallback>
      <p:transition>
        <p:fade/>
        <p:sndAc>
          <p:stSnd>
            <p:snd r:embed="rId1" name="bomb.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Circuit">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Circuit">
      <a:majorFont>
        <a:latin typeface="Tw Cen M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TM04033919[[fn=Circuit]]</Template>
  <TotalTime>0</TotalTime>
  <Words>3778</Words>
  <Application>WPS Presentation</Application>
  <PresentationFormat>Widescreen</PresentationFormat>
  <Paragraphs>69</Paragraphs>
  <Slides>8</Slides>
  <Notes>1</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8</vt:i4>
      </vt:variant>
    </vt:vector>
  </HeadingPairs>
  <TitlesOfParts>
    <vt:vector size="22" baseType="lpstr">
      <vt:lpstr>Arial</vt:lpstr>
      <vt:lpstr>SimSun</vt:lpstr>
      <vt:lpstr>Wingdings</vt:lpstr>
      <vt:lpstr>Trebuchet MS</vt:lpstr>
      <vt:lpstr>Modern Love</vt:lpstr>
      <vt:lpstr>Jokerman</vt:lpstr>
      <vt:lpstr>Algerian</vt:lpstr>
      <vt:lpstr>Bodoni MT Condensed</vt:lpstr>
      <vt:lpstr>Tw Cen MT</vt:lpstr>
      <vt:lpstr>Microsoft YaHei</vt:lpstr>
      <vt:lpstr>Arial Unicode MS</vt:lpstr>
      <vt:lpstr>Aptos</vt:lpstr>
      <vt:lpstr>Segoe UI</vt:lpstr>
      <vt:lpstr>Circuit</vt:lpstr>
      <vt:lpstr>CAREER IN COMPUTER  SCIENCE &amp; ENGINEERING</vt:lpstr>
      <vt:lpstr>ABOUT COMPUTER SCIENCE</vt:lpstr>
      <vt:lpstr>ABOUT COMPUTER SCIENCE</vt:lpstr>
      <vt:lpstr>Key responsibilities :</vt:lpstr>
      <vt:lpstr>WHO’S COMPUTER SCIENCE SPACIALIST</vt:lpstr>
      <vt:lpstr>ROAD MAP</vt:lpstr>
      <vt:lpstr>Skills required </vt:lpstr>
      <vt:lpstr>FUTURE SCOPE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CAREER IN COMPUTER  SCIENCE &amp; ENGINEERING</dc:title>
  <dc:creator>Bhavya Okte</dc:creator>
  <cp:lastModifiedBy>Aayush Suryawanshi</cp:lastModifiedBy>
  <cp:revision>5</cp:revision>
  <dcterms:created xsi:type="dcterms:W3CDTF">2025-10-30T12:45:00Z</dcterms:created>
  <dcterms:modified xsi:type="dcterms:W3CDTF">2025-11-12T04:20:02Z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BEB0E986EDEE42FDB0C1E45BF925EC70_12</vt:lpwstr>
  </property>
  <property fmtid="{D5CDD505-2E9C-101B-9397-08002B2CF9AE}" pid="3" name="KSOProductBuildVer">
    <vt:lpwstr>1033-12.2.0.23155</vt:lpwstr>
  </property>
</Properties>
</file>